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C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3CB2E6-0CC2-4B44-9CD0-33A7FA561B75}" v="10" dt="2026-04-15T13:37:03.068"/>
    <p1510:client id="{A0A22EDD-C689-38E6-EB41-00BAF332382C}" v="391" dt="2026-04-15T13:45:46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FB7068-A0E9-4F4D-BED2-B21FEBA88321}" type="datetimeFigureOut"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A46CCC-02AF-4121-B745-900A888BFA9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03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Speaker Notes:</a:t>
            </a:r>
          </a:p>
          <a:p>
            <a:endParaRPr lang="en-US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>
                <a:ea typeface="Calibri"/>
                <a:cs typeface="Calibri"/>
              </a:rPr>
              <a:t>Application Change Graph</a:t>
            </a:r>
          </a:p>
          <a:p>
            <a:pPr marL="685800" lvl="1" indent="-228600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Of the 7 schools with the largest increases in enrollment, 5 are relatively small (~10k or less)</a:t>
            </a:r>
          </a:p>
          <a:p>
            <a:pPr marL="685800" lvl="1" indent="-228600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Of the 7 schools with the largest decreases in enrollment, all are large schools (&gt;20k)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46CCC-02AF-4121-B745-900A888BFA92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67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68067-5A38-B5CC-1B8D-A2CF24592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86B64-23EF-7067-0AE8-AEF597AB1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89459-8D27-B30C-ACA8-E9552D255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F0EB-2E72-6141-8404-45155FDF867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41904-3C68-298F-6E65-D80D3C2F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C28F6-B007-01D7-F8D2-249D08B85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BABB-3084-2347-B7F6-6CB23064D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60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B8531-2F5D-CB41-9F99-AB4EE6DA8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DD0D9-2EFB-193F-B8DD-E2865522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7B2F6-5082-E88C-895D-B2F0D2EB8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F0EB-2E72-6141-8404-45155FDF867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124A2-1FF1-CAA4-5BF7-07B819570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DB5CD-3DD4-7849-12B3-8EDB9C18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BABB-3084-2347-B7F6-6CB23064D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789E-77C2-7CE4-9581-D0D28774C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F1138-99EB-EF06-CFC9-9FF8BBEF3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2E57-7B88-4BAF-DC6E-59186F7B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F0EB-2E72-6141-8404-45155FDF867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981DB-EC2C-DE79-17EA-328914C41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40929-5CB5-87F6-4397-A0B133AF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BABB-3084-2347-B7F6-6CB23064D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37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13F4-451D-16D1-5E5D-FE9BB512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EC267-A450-2F33-0363-23FF81A27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87EF6-2453-6E81-E6EB-68B2705BF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47541-2B9C-16F2-DA96-E1EF21AEE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F0EB-2E72-6141-8404-45155FDF867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0D752-E20A-D716-515F-9D027503F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46AC9-275E-F95A-1C50-B2F29326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BABB-3084-2347-B7F6-6CB23064D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32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CC2B1-1D24-0595-D728-C476579A7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A9C06-F5CB-B143-7409-D9C0B48FB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6F484-93EC-635E-33ED-C609AF338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D82C7E-83D2-85A1-CE42-64312A82EC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54CAB-C1AC-30E5-081D-27ACC4076A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C28FEB-3622-D965-A73D-CBF5267A3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F0EB-2E72-6141-8404-45155FDF867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0A180-6B6A-317B-5DC8-DF06476E3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9F6C9D-4A22-3E6E-F6C7-59B0F461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BABB-3084-2347-B7F6-6CB23064D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80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136F8-0AB2-EAC5-AF0F-A474AD78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66C6B0-FCDF-5BF6-9B3A-81E357EDC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F0EB-2E72-6141-8404-45155FDF867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45B3F-2CB1-5362-B537-97D7DE5D3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006A1-93DA-A14D-1D05-FCFD427C9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BABB-3084-2347-B7F6-6CB23064D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FFB03E-E3BC-1899-E843-4CDB70B6B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F0EB-2E72-6141-8404-45155FDF867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B27A68-75A7-5D05-2CC9-AB743A8A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37365-0ECF-B99E-360A-88649C26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BABB-3084-2347-B7F6-6CB23064D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43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D03B9-CEE9-1672-28AA-62372A7F4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A91A6-38B6-A6C6-7C89-CE7492080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28E8B-CA76-1CC3-9F1E-E80360A20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86E5C-7E92-48AA-FC72-1CA1B675D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F0EB-2E72-6141-8404-45155FDF867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AC395-675F-ADA4-0DB0-CCF7A4C76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A8319-FF42-C2C5-8FEF-926CFBD6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BABB-3084-2347-B7F6-6CB23064D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859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95FF-A5EA-30FD-327B-C5D79D93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5D8354-8272-7B09-4D51-12067C55A8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DB0AF-4100-68DC-690F-9655C2136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9439B-71ED-B9EB-E195-C2284ECA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F0EB-2E72-6141-8404-45155FDF867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E61AA-B7A5-E565-4312-C20942BE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45AA8-981A-A6C7-C8EA-123BECF09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BABB-3084-2347-B7F6-6CB23064D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1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73C2-2080-7515-032E-17C8635C2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EB5891-D1E3-215D-2D26-32896F1B2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8630-2B42-82FA-B72A-E30780EA0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F0EB-2E72-6141-8404-45155FDF867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4AC4C-B4E0-3CDC-A7FB-2DB878049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EC9A7-A357-EE42-18EF-C966C9BA6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BABB-3084-2347-B7F6-6CB23064D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13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E32629-0AF4-A695-8103-4CD6E2111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3886D-4905-46BC-23C2-49EEA2A07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C46CB-4977-5258-8216-9B667A58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F0EB-2E72-6141-8404-45155FDF867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ABD08-EAF0-841C-ED4C-444C68A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26029-B558-71FC-FE5A-7CCFFE90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5BABB-3084-2347-B7F6-6CB23064D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02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30955D-B786-E1C0-AB4F-460B424F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87489-9A1C-0911-AFC5-C3D645F8E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F98CF-C8BC-6A29-9F91-D0F40A224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C8F0EB-2E72-6141-8404-45155FDF867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5268D-710E-6ABE-9DE8-9BD7C7E8C1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ACA92-5B8F-0CB5-79D3-8EDBCF5F0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85BABB-3084-2347-B7F6-6CB23064D7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20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9074DB-D786-D39A-FA95-A1A89382375D}"/>
              </a:ext>
            </a:extLst>
          </p:cNvPr>
          <p:cNvSpPr/>
          <p:nvPr/>
        </p:nvSpPr>
        <p:spPr>
          <a:xfrm>
            <a:off x="-1772" y="-17907"/>
            <a:ext cx="12192000" cy="11308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09CDE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E4DBCB-BFF7-E17B-771B-1030A9E83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129365"/>
            <a:ext cx="798458" cy="798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D0855A-A5A7-8B58-52AE-522EF52CFAE6}"/>
              </a:ext>
            </a:extLst>
          </p:cNvPr>
          <p:cNvSpPr txBox="1"/>
          <p:nvPr/>
        </p:nvSpPr>
        <p:spPr>
          <a:xfrm>
            <a:off x="1939715" y="248506"/>
            <a:ext cx="8312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Predicting March Madness appearances and analyzing historical trends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AB3924-07BD-1008-0C96-527A5B4AC07D}"/>
              </a:ext>
            </a:extLst>
          </p:cNvPr>
          <p:cNvSpPr txBox="1"/>
          <p:nvPr/>
        </p:nvSpPr>
        <p:spPr>
          <a:xfrm>
            <a:off x="3618399" y="667859"/>
            <a:ext cx="2397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Bill Stanton, Joseph Shin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836B45-51D9-8CED-DA2B-7E762B177D67}"/>
              </a:ext>
            </a:extLst>
          </p:cNvPr>
          <p:cNvSpPr/>
          <p:nvPr/>
        </p:nvSpPr>
        <p:spPr>
          <a:xfrm rot="10800000">
            <a:off x="-2" y="6397538"/>
            <a:ext cx="12192000" cy="48370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09CDE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E63212-6E02-2D35-0B99-6C30446D95D2}"/>
              </a:ext>
            </a:extLst>
          </p:cNvPr>
          <p:cNvSpPr/>
          <p:nvPr/>
        </p:nvSpPr>
        <p:spPr>
          <a:xfrm rot="10800000">
            <a:off x="360372" y="1357341"/>
            <a:ext cx="2392020" cy="301829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02EF35-EFF2-743C-24D1-96C32AF81385}"/>
              </a:ext>
            </a:extLst>
          </p:cNvPr>
          <p:cNvSpPr txBox="1"/>
          <p:nvPr/>
        </p:nvSpPr>
        <p:spPr>
          <a:xfrm>
            <a:off x="354447" y="1351394"/>
            <a:ext cx="2397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Introduction</a:t>
            </a:r>
            <a:endParaRPr 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92708-F7AA-3B31-0972-6E10D6F75606}"/>
              </a:ext>
            </a:extLst>
          </p:cNvPr>
          <p:cNvSpPr txBox="1"/>
          <p:nvPr/>
        </p:nvSpPr>
        <p:spPr>
          <a:xfrm>
            <a:off x="354447" y="1747840"/>
            <a:ext cx="34567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The goal of this project was to predict March Madness Final Four appearances for men’s NCAA teams. We trained a variety of machine learning models in addition to performing exploratory data analysis to identify unique patterns in the data.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2727D3-9C48-26DB-5296-79DFBD1B91F9}"/>
              </a:ext>
            </a:extLst>
          </p:cNvPr>
          <p:cNvSpPr/>
          <p:nvPr/>
        </p:nvSpPr>
        <p:spPr>
          <a:xfrm rot="10800000">
            <a:off x="321837" y="3055149"/>
            <a:ext cx="6454333" cy="301829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A8AB62-47D0-3B67-DE53-DB6D310CA5DC}"/>
              </a:ext>
            </a:extLst>
          </p:cNvPr>
          <p:cNvSpPr txBox="1"/>
          <p:nvPr/>
        </p:nvSpPr>
        <p:spPr>
          <a:xfrm>
            <a:off x="315913" y="3049204"/>
            <a:ext cx="64604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Exploratory Findings</a:t>
            </a:r>
            <a:endParaRPr lang="en-US" sz="1400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C04061-5F61-099D-ED47-9763C5939164}"/>
              </a:ext>
            </a:extLst>
          </p:cNvPr>
          <p:cNvSpPr/>
          <p:nvPr/>
        </p:nvSpPr>
        <p:spPr>
          <a:xfrm rot="10800000">
            <a:off x="7536870" y="1369921"/>
            <a:ext cx="2392020" cy="301829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E31BFD-F532-4BEE-9684-B1AD7ABED5A8}"/>
              </a:ext>
            </a:extLst>
          </p:cNvPr>
          <p:cNvSpPr txBox="1"/>
          <p:nvPr/>
        </p:nvSpPr>
        <p:spPr>
          <a:xfrm>
            <a:off x="7530945" y="1363974"/>
            <a:ext cx="2397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Model Performance</a:t>
            </a:r>
            <a:endParaRPr lang="en-US" sz="1400" b="1"/>
          </a:p>
        </p:txBody>
      </p:sp>
      <p:pic>
        <p:nvPicPr>
          <p:cNvPr id="26" name="Picture 25" descr="A graph showing the difference between the average and the average&#10;&#10;AI-generated content may be incorrect.">
            <a:extLst>
              <a:ext uri="{FF2B5EF4-FFF2-40B4-BE49-F238E27FC236}">
                <a16:creationId xmlns:a16="http://schemas.microsoft.com/office/drawing/2014/main" id="{745ED507-81B8-05F1-2106-EFBE11D7F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685" y="4641273"/>
            <a:ext cx="1919723" cy="162274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45E8DCB-79CE-5803-A82F-1FE94A6706CE}"/>
              </a:ext>
            </a:extLst>
          </p:cNvPr>
          <p:cNvSpPr txBox="1"/>
          <p:nvPr/>
        </p:nvSpPr>
        <p:spPr>
          <a:xfrm>
            <a:off x="315913" y="3425116"/>
            <a:ext cx="6561598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/>
              <a:t>We used 3 questions to drive our analysis of the dataset:</a:t>
            </a:r>
          </a:p>
          <a:p>
            <a:pPr marL="228600" indent="-228600">
              <a:buAutoNum type="arabicParenBoth"/>
            </a:pPr>
            <a:r>
              <a:rPr lang="en-US" sz="1200"/>
              <a:t>Does a Final Four appearance impact the number of applications for a school the following year?</a:t>
            </a:r>
          </a:p>
          <a:p>
            <a:pPr marL="228600" indent="-228600">
              <a:buAutoNum type="arabicParenBoth"/>
            </a:pPr>
            <a:r>
              <a:rPr lang="en-US" sz="1200"/>
              <a:t>Does the NCAA follow the NBA’s increase in 3-point shooting rate?</a:t>
            </a:r>
          </a:p>
          <a:p>
            <a:pPr marL="228600" indent="-228600">
              <a:buAutoNum type="arabicParenBoth"/>
            </a:pPr>
            <a:r>
              <a:rPr lang="en-US" sz="1200"/>
              <a:t>Which statistic is a better indicator of a team making the final four? An efficient offense or defense?  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76292D-84E3-45A9-DBFD-0906F4795817}"/>
              </a:ext>
            </a:extLst>
          </p:cNvPr>
          <p:cNvSpPr/>
          <p:nvPr/>
        </p:nvSpPr>
        <p:spPr>
          <a:xfrm rot="10800000">
            <a:off x="4032069" y="1369921"/>
            <a:ext cx="2617173" cy="301829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770E72-237F-B96C-D3B9-2D51EE366250}"/>
              </a:ext>
            </a:extLst>
          </p:cNvPr>
          <p:cNvSpPr txBox="1"/>
          <p:nvPr/>
        </p:nvSpPr>
        <p:spPr>
          <a:xfrm>
            <a:off x="4025587" y="1363975"/>
            <a:ext cx="2623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Data Sources</a:t>
            </a:r>
            <a:endParaRPr lang="en-US" sz="1400" b="1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6CE964-D03D-C96F-AD54-551A793F1272}"/>
              </a:ext>
            </a:extLst>
          </p:cNvPr>
          <p:cNvSpPr txBox="1"/>
          <p:nvPr/>
        </p:nvSpPr>
        <p:spPr>
          <a:xfrm>
            <a:off x="7497816" y="1754950"/>
            <a:ext cx="3742480" cy="143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We built a Gradient Boosting model to predict whether a team will make March Madness. Because the dataset was moderately imbalanced (18% minority class), we used Synthetic Minority Over-sampling Technique (SMOTE) which increased the minority class from 18% to 35%. Implementing smote slightly increased the precision and f1 score.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CCB418-42CD-92C9-1BD9-D2B3DA6A38DA}"/>
              </a:ext>
            </a:extLst>
          </p:cNvPr>
          <p:cNvSpPr txBox="1"/>
          <p:nvPr/>
        </p:nvSpPr>
        <p:spPr>
          <a:xfrm>
            <a:off x="4014682" y="1753237"/>
            <a:ext cx="310498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/>
              <a:t>The data was sourced from Kaggle, the NBA, and the National Center for Education Statistics. The data was  cleaned, transformed, and </a:t>
            </a:r>
            <a:r>
              <a:rPr lang="en-US" sz="1200" err="1"/>
              <a:t>subsetted</a:t>
            </a:r>
            <a:r>
              <a:rPr lang="en-US" sz="1200"/>
              <a:t> before being used to train the model and create the Exploratory Graphs.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FC328B9-C1FC-9A62-9C22-2D2AEDDA4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73" y="3300228"/>
            <a:ext cx="4948951" cy="296104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966FD7-8C90-5DD0-4297-C2BED6B933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657" y="4644886"/>
            <a:ext cx="1918217" cy="15505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0025FD-C9E2-0106-33E9-31D39EFD98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700" y="4651512"/>
            <a:ext cx="2192408" cy="161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43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Shin, Joseph J.</dc:creator>
  <cp:revision>3</cp:revision>
  <dcterms:created xsi:type="dcterms:W3CDTF">2026-03-27T16:20:31Z</dcterms:created>
  <dcterms:modified xsi:type="dcterms:W3CDTF">2026-04-15T15:50:00Z</dcterms:modified>
</cp:coreProperties>
</file>